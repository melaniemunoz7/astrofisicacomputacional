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s-CO" sz="4400" spc="-1" strike="noStrike">
                <a:latin typeface="Arial"/>
              </a:rPr>
              <a:t>Pulse para desplazar la diapositiva</a:t>
            </a:r>
            <a:endParaRPr b="0" lang="es-CO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CO" sz="2000" spc="-1" strike="noStrike">
                <a:latin typeface="Arial"/>
              </a:rPr>
              <a:t>Pulse para editar el formato de las notas</a:t>
            </a:r>
            <a:endParaRPr b="0" lang="es-CO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s-CO" sz="1400" spc="-1" strike="noStrike">
                <a:latin typeface="Times New Roman"/>
              </a:rPr>
              <a:t>&lt;cabecera&gt;</a:t>
            </a:r>
            <a:endParaRPr b="0" lang="es-CO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s-CO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s-CO" sz="1400" spc="-1" strike="noStrike">
                <a:latin typeface="Times New Roman"/>
              </a:rPr>
              <a:t>&lt;fecha/hora&gt;</a:t>
            </a:r>
            <a:endParaRPr b="0" lang="es-CO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s-CO" sz="1400" spc="-1" strike="noStrike">
                <a:latin typeface="Times New Roman"/>
              </a:defRPr>
            </a:lvl1pPr>
          </a:lstStyle>
          <a:p>
            <a:r>
              <a:rPr b="0" lang="es-CO" sz="1400" spc="-1" strike="noStrike">
                <a:latin typeface="Times New Roman"/>
              </a:rPr>
              <a:t>&lt;pie de página&gt;</a:t>
            </a:r>
            <a:endParaRPr b="0" lang="es-CO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s-CO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5F15FFB-46FF-4082-B9CB-CC881143D716}" type="slidenum">
              <a:rPr b="0" lang="es-CO" sz="1400" spc="-1" strike="noStrike">
                <a:latin typeface="Times New Roman"/>
              </a:rPr>
              <a:t>&lt;número&gt;</a:t>
            </a:fld>
            <a:endParaRPr b="0" lang="es-CO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s-CO" sz="20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s-E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62917B-BCE7-4ACC-9F09-A87CDA02F3B5}" type="slidenum">
              <a:rPr b="0" lang="es-ES" sz="1200" spc="-1" strike="noStrike">
                <a:latin typeface="Times New Roman"/>
              </a:rPr>
              <a:t>&lt;número&gt;</a:t>
            </a:fld>
            <a:endParaRPr b="0" lang="es-CO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E67055-C357-4520-8B9E-1F3482A759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630DAB-7A20-4A21-B94F-4D678CFDF3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5F32C7-2DCB-4F0D-9C9F-DCD9AE5639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999767-094F-43FC-9574-3711F376F9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0E580F-8C30-42D7-9049-A9C4C033C3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04D166-E27C-4971-8F7A-1306170AFA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FE1070-7A3D-4968-BF8E-CB09DBA5AF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A335BF-6999-4C32-9466-90EEF10983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00E2C12-352B-463D-8B45-2F495CAD43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ED8F17-95EA-48E8-8787-1769046C59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EBFE8C-6704-45B7-A2BE-3EE76CFBF3E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1C3D6E-3524-4990-BE7F-F40E40E2C3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7386CF2-3AB0-4A38-99FD-D7B226DC74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80177CB-1823-45BE-89FC-8566BB03E3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03A2DE-DAF4-43C9-BB67-EA229B71C2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EE2BED-6356-41B2-AE8E-5B602874A9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37FB96A-F6A3-465B-BC7F-A7AEE67C5C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E21EEF-FC24-4329-865A-FB2EFA1569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012C542-1AF6-4A18-82C7-916B9DBCBD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F04840-9094-4DA4-B106-019C0E30B0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6D65262-8112-4911-BBBD-FF0563972E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86C09A8-87A9-4C45-ADB8-B5932D9338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32424D-6EF6-49C1-BF8C-56D393BD69C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CO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CO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DF44D32-C9E8-4146-B541-9010326ACBE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08520" y="620280"/>
            <a:ext cx="9956160" cy="143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CO" sz="1800" spc="-1" strike="noStrike">
                <a:latin typeface="Arial"/>
              </a:rPr>
              <a:t>Pulse para editar el formato del texto de título</a:t>
            </a:r>
            <a:endParaRPr b="0" lang="es-CO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7344000" y="6424920"/>
            <a:ext cx="40593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800" spc="-1" strike="noStrike" cap="all">
                <a:solidFill>
                  <a:srgbClr val="ffffff"/>
                </a:solidFill>
                <a:latin typeface="Neue Haas Grotesk Text Pro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800" spc="-1" strike="noStrike" cap="all">
                <a:solidFill>
                  <a:srgbClr val="ffffff"/>
                </a:solidFill>
                <a:latin typeface="Neue Haas Grotesk Text Pro"/>
              </a:rPr>
              <a:t>&lt;pie de página&gt;</a:t>
            </a:r>
            <a:endParaRPr b="0" lang="es-CO" sz="8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11404080" y="6425640"/>
            <a:ext cx="4291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800" spc="-1" strike="noStrike">
                <a:solidFill>
                  <a:srgbClr val="ffffff"/>
                </a:solidFill>
                <a:latin typeface="Neue Haas Grotesk Text Pro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23B5D3-05DF-47B2-83F9-E5AD52FA5275}" type="slidenum">
              <a:rPr b="0" lang="en-US" sz="800" spc="-1" strike="noStrike">
                <a:solidFill>
                  <a:srgbClr val="ffffff"/>
                </a:solidFill>
                <a:latin typeface="Neue Haas Grotesk Text Pro"/>
              </a:rPr>
              <a:t>&lt;número&gt;</a:t>
            </a:fld>
            <a:endParaRPr b="0" lang="es-CO" sz="8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340200" y="63360"/>
            <a:ext cx="2742480" cy="31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s-CO" sz="1400" spc="-1" strike="noStrike">
                <a:latin typeface="Times New Roman"/>
              </a:defRPr>
            </a:lvl1pPr>
          </a:lstStyle>
          <a:p>
            <a:r>
              <a:rPr b="0" lang="es-CO" sz="1400" spc="-1" strike="noStrike">
                <a:latin typeface="Times New Roman"/>
              </a:rPr>
              <a:t>&lt;fecha/hora&gt;</a:t>
            </a:r>
            <a:endParaRPr b="0" lang="es-CO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latin typeface="Arial"/>
              </a:rPr>
              <a:t>Pulse para editar el formato de texto del esquema</a:t>
            </a:r>
            <a:endParaRPr b="0" lang="es-CO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latin typeface="Arial"/>
              </a:rPr>
              <a:t>Segundo nivel del esquema</a:t>
            </a:r>
            <a:endParaRPr b="0" lang="es-CO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latin typeface="Arial"/>
              </a:rPr>
              <a:t>Tercer nivel del esquema</a:t>
            </a:r>
            <a:endParaRPr b="0" lang="es-CO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latin typeface="Arial"/>
              </a:rPr>
              <a:t>Cuarto nivel del esquema</a:t>
            </a:r>
            <a:endParaRPr b="0" lang="es-CO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latin typeface="Arial"/>
              </a:rPr>
              <a:t>Quinto nivel del esquema</a:t>
            </a:r>
            <a:endParaRPr b="0" lang="es-CO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latin typeface="Arial"/>
              </a:rPr>
              <a:t>Sexto nivel del esquema</a:t>
            </a:r>
            <a:endParaRPr b="0" lang="es-CO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latin typeface="Arial"/>
              </a:rPr>
              <a:t>Séptimo nivel del esquema</a:t>
            </a:r>
            <a:endParaRPr b="0" lang="es-CO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7344000" y="6424920"/>
            <a:ext cx="40593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800" spc="-1" strike="noStrike" cap="all">
                <a:solidFill>
                  <a:srgbClr val="ffffff"/>
                </a:solidFill>
                <a:latin typeface="Neue Haas Grotesk Text Pro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800" spc="-1" strike="noStrike" cap="all">
                <a:solidFill>
                  <a:srgbClr val="ffffff"/>
                </a:solidFill>
                <a:latin typeface="Neue Haas Grotesk Text Pro"/>
              </a:rPr>
              <a:t>&lt;pie de página&gt;</a:t>
            </a:r>
            <a:endParaRPr b="0" lang="es-CO" sz="8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404080" y="6425640"/>
            <a:ext cx="4291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800" spc="-1" strike="noStrike">
                <a:solidFill>
                  <a:srgbClr val="ffffff"/>
                </a:solidFill>
                <a:latin typeface="Neue Haas Grotesk Text Pro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B9960B7-0BB5-4A17-8D18-E10B95970661}" type="slidenum">
              <a:rPr b="0" lang="en-US" sz="800" spc="-1" strike="noStrike">
                <a:solidFill>
                  <a:srgbClr val="ffffff"/>
                </a:solidFill>
                <a:latin typeface="Neue Haas Grotesk Text Pro"/>
              </a:rPr>
              <a:t>&lt;número&gt;</a:t>
            </a:fld>
            <a:endParaRPr b="0" lang="es-CO" sz="8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340200" y="63360"/>
            <a:ext cx="2742480" cy="317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s-CO" sz="1400" spc="-1" strike="noStrike">
                <a:latin typeface="Times New Roman"/>
              </a:defRPr>
            </a:lvl1pPr>
          </a:lstStyle>
          <a:p>
            <a:r>
              <a:rPr b="0" lang="es-CO" sz="1400" spc="-1" strike="noStrike">
                <a:latin typeface="Times New Roman"/>
              </a:rPr>
              <a:t>&lt;fecha/hora&gt;</a:t>
            </a:r>
            <a:endParaRPr b="0" lang="es-CO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s-CO" sz="4400" spc="-1" strike="noStrike">
                <a:latin typeface="Arial"/>
              </a:rPr>
              <a:t>Pulse para editar el formato del texto de título</a:t>
            </a:r>
            <a:endParaRPr b="0" lang="es-CO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3200" spc="-1" strike="noStrike">
                <a:latin typeface="Arial"/>
              </a:rPr>
              <a:t>Pulse para editar el formato de texto del esquema</a:t>
            </a:r>
            <a:endParaRPr b="0" lang="es-CO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CO" sz="2800" spc="-1" strike="noStrike">
                <a:latin typeface="Arial"/>
              </a:rPr>
              <a:t>Segundo nivel del esquema</a:t>
            </a:r>
            <a:endParaRPr b="0" lang="es-CO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400" spc="-1" strike="noStrike">
                <a:latin typeface="Arial"/>
              </a:rPr>
              <a:t>Tercer nivel del esquema</a:t>
            </a:r>
            <a:endParaRPr b="0" lang="es-CO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CO" sz="2000" spc="-1" strike="noStrike">
                <a:latin typeface="Arial"/>
              </a:rPr>
              <a:t>Cuarto nivel del esquema</a:t>
            </a:r>
            <a:endParaRPr b="0" lang="es-CO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latin typeface="Arial"/>
              </a:rPr>
              <a:t>Quinto nivel del esquema</a:t>
            </a:r>
            <a:endParaRPr b="0" lang="es-CO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latin typeface="Arial"/>
              </a:rPr>
              <a:t>Sexto nivel del esquema</a:t>
            </a:r>
            <a:endParaRPr b="0" lang="es-CO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CO" sz="2000" spc="-1" strike="noStrike">
                <a:latin typeface="Arial"/>
              </a:rPr>
              <a:t>Séptimo nivel del esquema</a:t>
            </a:r>
            <a:endParaRPr b="0" lang="es-CO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449720" y="2010600"/>
            <a:ext cx="8991000" cy="164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s-ES" sz="5400" spc="-1" strike="noStrike">
                <a:solidFill>
                  <a:srgbClr val="ffffff"/>
                </a:solidFill>
                <a:latin typeface="Neue Haas Grotesk Text Pro"/>
              </a:rPr>
              <a:t>WATER SPLASH</a:t>
            </a:r>
            <a:endParaRPr b="0" lang="es-CO" sz="5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453320" y="4032720"/>
            <a:ext cx="9190440" cy="1822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8000"/>
          </a:bodyPr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ffffff"/>
                </a:solidFill>
                <a:latin typeface="Neue Haas Grotesk Text Pro"/>
              </a:rPr>
              <a:t>Andersson Rodriguez Moreno, Melanie A. Muñoz Chavarria.</a:t>
            </a:r>
            <a:endParaRPr b="0" lang="es-CO" sz="20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ffffff"/>
                </a:solidFill>
                <a:latin typeface="Neue Haas Grotesk Text Pro"/>
              </a:rPr>
              <a:t>Curso: Astrofísica Computacional. </a:t>
            </a:r>
            <a:endParaRPr b="0" lang="es-CO" sz="20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ffffff"/>
                </a:solidFill>
                <a:latin typeface="Neue Haas Grotesk Text Pro"/>
              </a:rPr>
              <a:t>Instituto de Física, Facultad de Ciencias Exactas y Naturales</a:t>
            </a:r>
            <a:endParaRPr b="0" lang="es-CO" sz="2000" spc="-1" strike="noStrike">
              <a:latin typeface="Arial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ES" sz="2000" spc="-1" strike="noStrike">
                <a:solidFill>
                  <a:srgbClr val="ffffff"/>
                </a:solidFill>
                <a:latin typeface="Neue Haas Grotesk Text Pro"/>
              </a:rPr>
              <a:t>Universidad de Antioquia</a:t>
            </a:r>
            <a:endParaRPr b="0" lang="es-CO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68360" y="450720"/>
            <a:ext cx="11470680" cy="7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s-ES" sz="3200" spc="-1" strike="noStrike">
                <a:solidFill>
                  <a:srgbClr val="ffffff"/>
                </a:solidFill>
                <a:latin typeface="Neue Haas Grotesk Text Pro"/>
              </a:rPr>
              <a:t>Cambios al código original de SPH</a:t>
            </a:r>
            <a:endParaRPr b="0" lang="es-CO" sz="3200" spc="-1" strike="noStrike">
              <a:latin typeface="Arial"/>
            </a:endParaRPr>
          </a:p>
        </p:txBody>
      </p:sp>
      <p:pic>
        <p:nvPicPr>
          <p:cNvPr id="91" name="Marcador de contenido 6" descr="Gráfico, Gráfico de burbujas&#10;&#10;Descripción generada automáticamente"/>
          <p:cNvPicPr/>
          <p:nvPr/>
        </p:nvPicPr>
        <p:blipFill>
          <a:blip r:embed="rId1"/>
          <a:srcRect l="3110" t="255" r="2073" b="-510"/>
          <a:stretch/>
        </p:blipFill>
        <p:spPr>
          <a:xfrm>
            <a:off x="6389640" y="2168640"/>
            <a:ext cx="4605840" cy="3851280"/>
          </a:xfrm>
          <a:prstGeom prst="rect">
            <a:avLst/>
          </a:prstGeom>
          <a:ln w="0">
            <a:noFill/>
          </a:ln>
        </p:spPr>
      </p:pic>
      <p:pic>
        <p:nvPicPr>
          <p:cNvPr id="92" name="Imagen 7" descr="Imagen que contiene computadora&#10;&#10;Descripción generada automáticamente"/>
          <p:cNvPicPr/>
          <p:nvPr/>
        </p:nvPicPr>
        <p:blipFill>
          <a:blip r:embed="rId2"/>
          <a:stretch/>
        </p:blipFill>
        <p:spPr>
          <a:xfrm>
            <a:off x="1668600" y="2168640"/>
            <a:ext cx="4084560" cy="3855960"/>
          </a:xfrm>
          <a:prstGeom prst="rect">
            <a:avLst/>
          </a:prstGeom>
          <a:ln w="0">
            <a:noFill/>
          </a:ln>
        </p:spPr>
      </p:pic>
      <p:sp>
        <p:nvSpPr>
          <p:cNvPr id="93" name="CuadroTexto 8"/>
          <p:cNvSpPr/>
          <p:nvPr/>
        </p:nvSpPr>
        <p:spPr>
          <a:xfrm>
            <a:off x="2346480" y="1621080"/>
            <a:ext cx="2448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SPH</a:t>
            </a:r>
            <a:endParaRPr b="0" lang="es-CO" sz="1800" spc="-1" strike="noStrike">
              <a:latin typeface="Arial"/>
            </a:endParaRPr>
          </a:p>
        </p:txBody>
      </p:sp>
      <p:sp>
        <p:nvSpPr>
          <p:cNvPr id="94" name="CuadroTexto 9"/>
          <p:cNvSpPr/>
          <p:nvPr/>
        </p:nvSpPr>
        <p:spPr>
          <a:xfrm>
            <a:off x="7571160" y="1625400"/>
            <a:ext cx="2244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Water Splash</a:t>
            </a:r>
            <a:endParaRPr b="0" lang="es-CO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
             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0C3809-6B16-4032-AD96-CE985D2C9DB8}" type="slidenum">
              <a:t>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353B36D4-C315-44C0-8378-5DA206A58199}" type="datetime1">
              <a:rPr lang="es-CO"/>
              <a:t>12/07/2024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48320" y="1212840"/>
            <a:ext cx="11470680" cy="7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s-ES" sz="3200" spc="-1" strike="noStrike">
                <a:solidFill>
                  <a:srgbClr val="ffffff"/>
                </a:solidFill>
                <a:latin typeface="Neue Haas Grotesk Text Pro"/>
              </a:rPr>
              <a:t>Paso de tiempo (dt)</a:t>
            </a:r>
            <a:endParaRPr b="0" lang="es-CO" sz="3200" spc="-1" strike="noStrike">
              <a:latin typeface="Arial"/>
            </a:endParaRPr>
          </a:p>
        </p:txBody>
      </p:sp>
      <p:sp>
        <p:nvSpPr>
          <p:cNvPr id="96" name="CuadroTexto 9"/>
          <p:cNvSpPr/>
          <p:nvPr/>
        </p:nvSpPr>
        <p:spPr>
          <a:xfrm>
            <a:off x="1268280" y="2697840"/>
            <a:ext cx="63651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Considerando la longitud de suavizado y la viscosidad cinética: </a:t>
            </a:r>
            <a:endParaRPr b="0" lang="es-CO" sz="2000" spc="-1" strike="noStrike">
              <a:latin typeface="Arial"/>
            </a:endParaRPr>
          </a:p>
        </p:txBody>
      </p:sp>
      <p:pic>
        <p:nvPicPr>
          <p:cNvPr id="97" name="Marcador de contenido 11" descr="Texto&#10;&#10;Descripción generada automáticamente"/>
          <p:cNvPicPr/>
          <p:nvPr/>
        </p:nvPicPr>
        <p:blipFill>
          <a:blip r:embed="rId1"/>
          <a:stretch/>
        </p:blipFill>
        <p:spPr>
          <a:xfrm>
            <a:off x="6694920" y="2589840"/>
            <a:ext cx="2580480" cy="913680"/>
          </a:xfrm>
          <a:prstGeom prst="rect">
            <a:avLst/>
          </a:prstGeom>
          <a:ln w="0">
            <a:noFill/>
          </a:ln>
        </p:spPr>
      </p:pic>
      <p:sp>
        <p:nvSpPr>
          <p:cNvPr id="98" name="CuadroTexto 12"/>
          <p:cNvSpPr/>
          <p:nvPr/>
        </p:nvSpPr>
        <p:spPr>
          <a:xfrm>
            <a:off x="1760400" y="4530600"/>
            <a:ext cx="33015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Nuevo valor del dt:</a:t>
            </a:r>
            <a:endParaRPr b="0" lang="es-CO" sz="2000" spc="-1" strike="noStrike">
              <a:latin typeface="Arial"/>
            </a:endParaRPr>
          </a:p>
        </p:txBody>
      </p:sp>
      <p:pic>
        <p:nvPicPr>
          <p:cNvPr id="99" name="Imagen 13" descr=""/>
          <p:cNvPicPr/>
          <p:nvPr/>
        </p:nvPicPr>
        <p:blipFill>
          <a:blip r:embed="rId2"/>
          <a:stretch/>
        </p:blipFill>
        <p:spPr>
          <a:xfrm>
            <a:off x="6093000" y="4398840"/>
            <a:ext cx="3542760" cy="6375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
             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70552F2-C5C5-450A-8B79-1B397F9CC039}" type="slidenum">
              <a:t>3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96AD35FC-4797-4FE9-8632-41E7A7F1B842}" type="datetime1">
              <a:rPr lang="es-CO"/>
              <a:t>12/07/2024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64680" y="1005840"/>
            <a:ext cx="11470680" cy="7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s-ES" sz="3200" spc="-1" strike="noStrike">
                <a:solidFill>
                  <a:srgbClr val="ffffff"/>
                </a:solidFill>
                <a:latin typeface="Neue Haas Grotesk Text Pro"/>
              </a:rPr>
              <a:t>Número de partículas y separación entre ellas</a:t>
            </a:r>
            <a:endParaRPr b="0" lang="es-CO" sz="3200" spc="-1" strike="noStrike">
              <a:latin typeface="Arial"/>
            </a:endParaRPr>
          </a:p>
        </p:txBody>
      </p:sp>
      <p:pic>
        <p:nvPicPr>
          <p:cNvPr id="101" name="Marcador de contenido 11" descr="Interfaz de usuario gráfica&#10;&#10;Descripción generada automáticamente"/>
          <p:cNvPicPr/>
          <p:nvPr/>
        </p:nvPicPr>
        <p:blipFill>
          <a:blip r:embed="rId1"/>
          <a:stretch/>
        </p:blipFill>
        <p:spPr>
          <a:xfrm>
            <a:off x="7001640" y="2125080"/>
            <a:ext cx="1958040" cy="940680"/>
          </a:xfrm>
          <a:prstGeom prst="rect">
            <a:avLst/>
          </a:prstGeom>
          <a:ln w="0">
            <a:noFill/>
          </a:ln>
        </p:spPr>
      </p:pic>
      <p:sp>
        <p:nvSpPr>
          <p:cNvPr id="102" name="CuadroTexto 12"/>
          <p:cNvSpPr/>
          <p:nvPr/>
        </p:nvSpPr>
        <p:spPr>
          <a:xfrm>
            <a:off x="2064960" y="2240640"/>
            <a:ext cx="36057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Cambio del número de partículas del fluido: </a:t>
            </a:r>
            <a:endParaRPr b="0" lang="es-CO" sz="2000" spc="-1" strike="noStrike">
              <a:latin typeface="Arial"/>
            </a:endParaRPr>
          </a:p>
        </p:txBody>
      </p:sp>
      <p:sp>
        <p:nvSpPr>
          <p:cNvPr id="103" name="CuadroTexto 13"/>
          <p:cNvSpPr/>
          <p:nvPr/>
        </p:nvSpPr>
        <p:spPr>
          <a:xfrm>
            <a:off x="2061000" y="4249080"/>
            <a:ext cx="360540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Cambio en la separación de las partículas del fluido:</a:t>
            </a:r>
            <a:endParaRPr b="0" lang="es-CO" sz="2000" spc="-1" strike="noStrike">
              <a:latin typeface="Arial"/>
            </a:endParaRPr>
          </a:p>
        </p:txBody>
      </p:sp>
      <p:pic>
        <p:nvPicPr>
          <p:cNvPr id="104" name="Imagen 14" descr="Texto&#10;&#10;Descripción generada automáticamente"/>
          <p:cNvPicPr/>
          <p:nvPr/>
        </p:nvPicPr>
        <p:blipFill>
          <a:blip r:embed="rId2"/>
          <a:stretch/>
        </p:blipFill>
        <p:spPr>
          <a:xfrm>
            <a:off x="5661720" y="3663720"/>
            <a:ext cx="5787720" cy="1721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
             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591123E-FC7E-47B4-90A1-F432372E6FEB}" type="slidenum">
              <a:t>4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F7539A36-1509-4DE8-98C1-01862FAD1CEE}" type="datetime1">
              <a:rPr lang="es-CO"/>
              <a:t>12/07/2024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64680" y="1005840"/>
            <a:ext cx="11470680" cy="7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s-ES" sz="3200" spc="-1" strike="noStrike">
                <a:solidFill>
                  <a:srgbClr val="ffffff"/>
                </a:solidFill>
                <a:latin typeface="Neue Haas Grotesk Text Pro"/>
              </a:rPr>
              <a:t>Condiciones Iniciales</a:t>
            </a:r>
            <a:endParaRPr b="0" lang="es-CO" sz="3200" spc="-1" strike="noStrike">
              <a:latin typeface="Arial"/>
            </a:endParaRPr>
          </a:p>
        </p:txBody>
      </p:sp>
      <p:sp>
        <p:nvSpPr>
          <p:cNvPr id="106" name="CuadroTexto 12"/>
          <p:cNvSpPr/>
          <p:nvPr/>
        </p:nvSpPr>
        <p:spPr>
          <a:xfrm>
            <a:off x="720000" y="2099520"/>
            <a:ext cx="52614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Forma circular de las partículas del fluido:</a:t>
            </a:r>
            <a:endParaRPr b="0" lang="es-CO" sz="2000" spc="-1" strike="noStrike">
              <a:latin typeface="Arial"/>
            </a:endParaRPr>
          </a:p>
        </p:txBody>
      </p:sp>
      <p:sp>
        <p:nvSpPr>
          <p:cNvPr id="107" name="CuadroTexto 13"/>
          <p:cNvSpPr/>
          <p:nvPr/>
        </p:nvSpPr>
        <p:spPr>
          <a:xfrm>
            <a:off x="6369480" y="2113560"/>
            <a:ext cx="4837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Bordes:</a:t>
            </a:r>
            <a:endParaRPr b="0" lang="es-CO" sz="1800" spc="-1" strike="noStrike">
              <a:latin typeface="Arial"/>
            </a:endParaRPr>
          </a:p>
        </p:txBody>
      </p:sp>
      <p:pic>
        <p:nvPicPr>
          <p:cNvPr id="108" name="Marcador de contenido 7" descr="Texto&#10;&#10;Descripción generada automáticamente"/>
          <p:cNvPicPr/>
          <p:nvPr/>
        </p:nvPicPr>
        <p:blipFill>
          <a:blip r:embed="rId1"/>
          <a:stretch/>
        </p:blipFill>
        <p:spPr>
          <a:xfrm>
            <a:off x="686880" y="2800440"/>
            <a:ext cx="5252760" cy="3568320"/>
          </a:xfrm>
          <a:prstGeom prst="rect">
            <a:avLst/>
          </a:prstGeom>
          <a:ln w="0">
            <a:noFill/>
          </a:ln>
        </p:spPr>
      </p:pic>
      <p:pic>
        <p:nvPicPr>
          <p:cNvPr id="109" name="Imagen 8" descr="Interfaz de usuario gráfica, Texto&#10;&#10;Descripción generada automáticamente"/>
          <p:cNvPicPr/>
          <p:nvPr/>
        </p:nvPicPr>
        <p:blipFill>
          <a:blip r:embed="rId2"/>
          <a:stretch/>
        </p:blipFill>
        <p:spPr>
          <a:xfrm>
            <a:off x="6446520" y="3236400"/>
            <a:ext cx="5384520" cy="798480"/>
          </a:xfrm>
          <a:prstGeom prst="rect">
            <a:avLst/>
          </a:prstGeom>
          <a:ln w="0">
            <a:noFill/>
          </a:ln>
        </p:spPr>
      </p:pic>
      <p:pic>
        <p:nvPicPr>
          <p:cNvPr id="110" name="Imagen 9" descr="Imagen que contiene Interfaz de usuario gráfica&#10;&#10;Descripción generada automáticamente"/>
          <p:cNvPicPr/>
          <p:nvPr/>
        </p:nvPicPr>
        <p:blipFill>
          <a:blip r:embed="rId3"/>
          <a:stretch/>
        </p:blipFill>
        <p:spPr>
          <a:xfrm>
            <a:off x="6441480" y="4195800"/>
            <a:ext cx="5394960" cy="704520"/>
          </a:xfrm>
          <a:prstGeom prst="rect">
            <a:avLst/>
          </a:prstGeom>
          <a:ln w="0">
            <a:noFill/>
          </a:ln>
        </p:spPr>
      </p:pic>
      <p:sp>
        <p:nvSpPr>
          <p:cNvPr id="111" name="CuadroTexto 10"/>
          <p:cNvSpPr/>
          <p:nvPr/>
        </p:nvSpPr>
        <p:spPr>
          <a:xfrm>
            <a:off x="6593760" y="2499480"/>
            <a:ext cx="4610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Calibri"/>
              <a:buChar char="-"/>
            </a:pP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Bordes adicionales (izquierdo e inferior):</a:t>
            </a:r>
            <a:endParaRPr b="0" lang="es-CO" sz="1800" spc="-1" strike="noStrike">
              <a:latin typeface="Arial"/>
            </a:endParaRPr>
          </a:p>
        </p:txBody>
      </p:sp>
      <p:sp>
        <p:nvSpPr>
          <p:cNvPr id="112" name="CuadroTexto 15"/>
          <p:cNvSpPr/>
          <p:nvPr/>
        </p:nvSpPr>
        <p:spPr>
          <a:xfrm>
            <a:off x="6762600" y="5079600"/>
            <a:ext cx="4738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Calibri"/>
              <a:buChar char="-"/>
            </a:pP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Descartar bordes superior y derecho, y su interacción.</a:t>
            </a:r>
            <a:endParaRPr b="0" lang="es-CO" sz="18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
             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39A5F17-586D-408C-9BFE-E6CABF846775}" type="slidenum">
              <a:t>5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513F96F1-93C5-401F-B0E4-BE111E45518E}" type="datetime1">
              <a:rPr lang="es-CO"/>
              <a:t>12/07/2024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55680" y="779040"/>
            <a:ext cx="11470680" cy="7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s-ES" sz="3200" spc="-1" strike="noStrike">
                <a:solidFill>
                  <a:srgbClr val="ffffff"/>
                </a:solidFill>
                <a:latin typeface="Neue Haas Grotesk Text Pro"/>
              </a:rPr>
              <a:t>Ecuación de estado y Navier Stokes</a:t>
            </a:r>
            <a:endParaRPr b="0" lang="es-CO" sz="3200" spc="-1" strike="noStrike">
              <a:latin typeface="Arial"/>
            </a:endParaRPr>
          </a:p>
        </p:txBody>
      </p:sp>
      <p:pic>
        <p:nvPicPr>
          <p:cNvPr id="114" name="Imagen 2" descr="Texto&#10;&#10;Descripción generada automáticamente"/>
          <p:cNvPicPr/>
          <p:nvPr/>
        </p:nvPicPr>
        <p:blipFill>
          <a:blip r:embed="rId1"/>
          <a:srcRect l="-31" t="0" r="2946" b="247"/>
          <a:stretch/>
        </p:blipFill>
        <p:spPr>
          <a:xfrm>
            <a:off x="356040" y="3038400"/>
            <a:ext cx="5172480" cy="3093840"/>
          </a:xfrm>
          <a:prstGeom prst="rect">
            <a:avLst/>
          </a:prstGeom>
          <a:ln w="0">
            <a:noFill/>
          </a:ln>
        </p:spPr>
      </p:pic>
      <p:pic>
        <p:nvPicPr>
          <p:cNvPr id="115" name="Imagen 9" descr=""/>
          <p:cNvPicPr/>
          <p:nvPr/>
        </p:nvPicPr>
        <p:blipFill>
          <a:blip r:embed="rId2"/>
          <a:srcRect l="0" t="5052" r="-345" b="-994"/>
          <a:stretch/>
        </p:blipFill>
        <p:spPr>
          <a:xfrm>
            <a:off x="3105000" y="1933200"/>
            <a:ext cx="2654640" cy="867600"/>
          </a:xfrm>
          <a:prstGeom prst="rect">
            <a:avLst/>
          </a:prstGeom>
          <a:ln w="0">
            <a:noFill/>
          </a:ln>
        </p:spPr>
      </p:pic>
      <p:sp>
        <p:nvSpPr>
          <p:cNvPr id="116" name="CuadroTexto 10"/>
          <p:cNvSpPr/>
          <p:nvPr/>
        </p:nvSpPr>
        <p:spPr>
          <a:xfrm>
            <a:off x="352800" y="2197080"/>
            <a:ext cx="3081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16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Compresibilidad artificial:</a:t>
            </a:r>
            <a:endParaRPr b="0" lang="es-CO" sz="1600" spc="-1" strike="noStrike">
              <a:latin typeface="Arial"/>
            </a:endParaRPr>
          </a:p>
        </p:txBody>
      </p:sp>
      <p:pic>
        <p:nvPicPr>
          <p:cNvPr id="117" name="Imagen 11" descr="Interfaz de usuario gráfica, Texto, Aplicación, Chat o mensaje de texto&#10;&#10;Descripción generada automáticamente"/>
          <p:cNvPicPr/>
          <p:nvPr/>
        </p:nvPicPr>
        <p:blipFill>
          <a:blip r:embed="rId3"/>
          <a:stretch/>
        </p:blipFill>
        <p:spPr>
          <a:xfrm>
            <a:off x="6175080" y="3040560"/>
            <a:ext cx="5056920" cy="1946520"/>
          </a:xfrm>
          <a:prstGeom prst="rect">
            <a:avLst/>
          </a:prstGeom>
          <a:ln w="0">
            <a:noFill/>
          </a:ln>
        </p:spPr>
      </p:pic>
      <p:sp>
        <p:nvSpPr>
          <p:cNvPr id="118" name="CuadroTexto 14"/>
          <p:cNvSpPr/>
          <p:nvPr/>
        </p:nvSpPr>
        <p:spPr>
          <a:xfrm>
            <a:off x="7156440" y="2197080"/>
            <a:ext cx="3081960" cy="57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ES" sz="16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Aplicación de la ecuación de estado y gravedad:</a:t>
            </a:r>
            <a:endParaRPr b="0" lang="es-CO" sz="16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
             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0414BB-00A9-4D08-A74E-B3BE2731A95F}" type="slidenum">
              <a:t>6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C921FB6A-EF8C-4CEF-B1DB-AD1983C4F4C3}" type="datetime1">
              <a:rPr lang="es-CO"/>
              <a:t>12/07/2024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64680" y="1005840"/>
            <a:ext cx="11470680" cy="70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 fontScale="83000"/>
          </a:bodyPr>
          <a:p>
            <a:pPr algn="ctr">
              <a:lnSpc>
                <a:spcPct val="90000"/>
              </a:lnSpc>
              <a:buNone/>
            </a:pPr>
            <a:r>
              <a:rPr b="1" lang="es-ES" sz="3200" spc="-1" strike="noStrike">
                <a:solidFill>
                  <a:srgbClr val="ffffff"/>
                </a:solidFill>
                <a:latin typeface="Neue Haas Grotesk Text Pro"/>
              </a:rPr>
              <a:t>Movimiento parabólico y tratamiento de fronteras</a:t>
            </a:r>
            <a:endParaRPr b="0" lang="es-CO" sz="3200" spc="-1" strike="noStrike">
              <a:latin typeface="Arial"/>
            </a:endParaRPr>
          </a:p>
        </p:txBody>
      </p:sp>
      <p:sp>
        <p:nvSpPr>
          <p:cNvPr id="120" name="CuadroTexto 12"/>
          <p:cNvSpPr/>
          <p:nvPr/>
        </p:nvSpPr>
        <p:spPr>
          <a:xfrm>
            <a:off x="3466800" y="2136960"/>
            <a:ext cx="5261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ES" sz="20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Movimiento parabólico: </a:t>
            </a:r>
            <a:endParaRPr b="0" lang="es-CO" sz="2000" spc="-1" strike="noStrike">
              <a:latin typeface="Arial"/>
            </a:endParaRPr>
          </a:p>
        </p:txBody>
      </p:sp>
      <p:sp>
        <p:nvSpPr>
          <p:cNvPr id="121" name="CuadroTexto 13"/>
          <p:cNvSpPr/>
          <p:nvPr/>
        </p:nvSpPr>
        <p:spPr>
          <a:xfrm>
            <a:off x="3989520" y="4258440"/>
            <a:ext cx="4207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DejaVu Sans"/>
              </a:rPr>
              <a:t>Cambio de orden de magnitud en la función boundary Interaction:</a:t>
            </a:r>
            <a:endParaRPr b="0" lang="es-CO" sz="1800" spc="-1" strike="noStrike">
              <a:latin typeface="Arial"/>
            </a:endParaRPr>
          </a:p>
        </p:txBody>
      </p:sp>
      <p:pic>
        <p:nvPicPr>
          <p:cNvPr id="122" name="Imagen 2" descr="Texto&#10;&#10;Descripción generada automáticamente"/>
          <p:cNvPicPr/>
          <p:nvPr/>
        </p:nvPicPr>
        <p:blipFill>
          <a:blip r:embed="rId1"/>
          <a:stretch/>
        </p:blipFill>
        <p:spPr>
          <a:xfrm>
            <a:off x="1420920" y="2628360"/>
            <a:ext cx="9876240" cy="1402920"/>
          </a:xfrm>
          <a:prstGeom prst="rect">
            <a:avLst/>
          </a:prstGeom>
          <a:ln w="0">
            <a:noFill/>
          </a:ln>
        </p:spPr>
      </p:pic>
      <p:pic>
        <p:nvPicPr>
          <p:cNvPr id="123" name="Imagen 6" descr=""/>
          <p:cNvPicPr/>
          <p:nvPr/>
        </p:nvPicPr>
        <p:blipFill>
          <a:blip r:embed="rId2"/>
          <a:stretch/>
        </p:blipFill>
        <p:spPr>
          <a:xfrm>
            <a:off x="3990960" y="5068080"/>
            <a:ext cx="4228560" cy="389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
              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2C61B03-296D-46BE-BD84-B5344348DC60}" type="slidenum">
              <a:t>7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9D322AB5-A9E5-4FAB-BEB9-FE33F9F94F7B}" type="datetime1">
              <a:rPr lang="es-CO"/>
              <a:t>12/07/2024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1117440" y="752040"/>
            <a:ext cx="9956160" cy="967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s-ES" sz="4400" spc="-1" strike="noStrike">
                <a:solidFill>
                  <a:srgbClr val="ffffff"/>
                </a:solidFill>
                <a:latin typeface="Neue Haas Grotesk Text Pro"/>
              </a:rPr>
              <a:t>Referencias</a:t>
            </a:r>
            <a:endParaRPr b="0" lang="es-CO" sz="4400" spc="-1" strike="noStrike"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1248120" y="1996200"/>
            <a:ext cx="9956160" cy="386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G. R. Liu, M. B. L. (2003). </a:t>
            </a:r>
            <a:r>
              <a:rPr b="0" i="1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Smoothed Particle Hydrodynamic</a:t>
            </a: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. World Scientific Printers (S) Pte Ltd.</a:t>
            </a:r>
            <a:endParaRPr b="0" lang="es-CO" sz="1800" spc="-1" strike="noStrike"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Tianyu Ma, Dawei Chen , Haiquan Sun, Dongjun Ma, Aiguo Xu, Pei Wang. (2021). Dynamic behavior of metal droplet impact on dry smooth wall: SPH simulation and splash criteria. </a:t>
            </a:r>
            <a:r>
              <a:rPr b="0" i="1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European Journal of Mechanics / B Fluids</a:t>
            </a: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, </a:t>
            </a:r>
            <a:r>
              <a:rPr b="0" i="1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88</a:t>
            </a: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.</a:t>
            </a:r>
            <a:endParaRPr b="0" lang="es-CO" sz="1800" spc="-1" strike="noStrike">
              <a:latin typeface="Arial"/>
            </a:endParaRPr>
          </a:p>
          <a:p>
            <a:pPr marL="228600" indent="-228600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Xiangwei Dong, Yanxin Liu , Ran Yu, Menghao Fan. (2023). Simulation of droplet bouncing on flexible substrate in 2D and 3D with WC-TL SPH method. </a:t>
            </a:r>
            <a:r>
              <a:rPr b="0" i="1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Journal of Fluids and Structures</a:t>
            </a: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, </a:t>
            </a:r>
            <a:r>
              <a:rPr b="0" i="1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119</a:t>
            </a:r>
            <a:r>
              <a:rPr b="0" lang="es-ES" sz="1800" spc="-1" strike="noStrike">
                <a:solidFill>
                  <a:srgbClr val="ffffff"/>
                </a:solidFill>
                <a:latin typeface="Neue Haas Grotesk Text Pro"/>
                <a:ea typeface="Neue Haas Grotesk Text Pro"/>
              </a:rPr>
              <a:t>.</a:t>
            </a:r>
            <a:endParaRPr b="0" lang="es-CO" sz="18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
             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EC16CDD-C2E9-43DA-9355-B7552888F4CE}" type="slidenum">
              <a:t>8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fld id="{865E7E4C-6022-4253-9E3D-4E019EEAE941}" type="datetime1">
              <a:rPr lang="es-CO"/>
              <a:t>12/07/2024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TF00001246</Template>
  <TotalTime>98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2024-07-11T13:34:35Z</dcterms:created>
  <dc:creator/>
  <dc:description/>
  <dc:language>es-CO</dc:language>
  <cp:lastModifiedBy/>
  <dcterms:modified xsi:type="dcterms:W3CDTF">2024-07-12T09:29:23Z</dcterms:modified>
  <cp:revision>6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Panorámica</vt:lpwstr>
  </property>
  <property fmtid="{D5CDD505-2E9C-101B-9397-08002B2CF9AE}" pid="4" name="Slides">
    <vt:i4>8</vt:i4>
  </property>
</Properties>
</file>